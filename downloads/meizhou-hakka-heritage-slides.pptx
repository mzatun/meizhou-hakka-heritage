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开场：本课程带你从客家迁徙史出发，认识梅州客家山歌、广东汉剧汉乐、埔寨火龙、围龙屋、客家菜、上灯习俗与侨批文化。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介绍课程定位、学习路径与课程规模：8章、30节点、40器物、多项国家级非遗。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【衣冠南渡】从永嘉之乱到五次大迁徙，看客家民系如何形成、世界客都如何成型。。可让学生到门户站点对应章节收听 AI 朗读全文。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【山歌俚音】七字四句，唱解心闷——用客家方言即兴吟唱的客家山歌。。可让学生到门户站点对应章节收听 AI 朗读全文。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【南国牡丹】外江旧调，皮黄声腔；一朵南国牡丹，一曲出水莲。。可让学生到门户站点对应章节收听 AI 朗读全文。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【火龙狮舞】埔寨火龙、梅州狮舞、杯花竹马——客家节庆演艺的全景图。。可让学生到门户站点对应章节收听 AI 朗读全文。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【围屋百工】围龙屋、石雕、青花瓷、蓝衫——山地栖居与百工智慧。。可让学生到门户站点对应章节收听 AI 朗读全文。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【粄香酒醇】酿豆腐、三及第、粄文化——舌尖上的迁徙记忆。。可让学生到门户站点对应章节收听 AI 朗读全文。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【礼俗客风】上灯花灯、祠堂祭祖、婚嫁喜宴——客家人的礼与情。。可让学生到门户站点对应章节收听 AI 朗读全文。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【侨批过番】侨批银信、过番南洋，客家文化的当代传承与出海。。可让学生到门户站点对应章节收听 AI 朗读全文。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展示门户站点互动地图：30个节点串起客家先民南迁与世界播迁的路线。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引导学生在门户站点数字非遗长廊中浏览40件器物并完成翻转阅读。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演示门户站点右下角 AI 讲解员阿蛮的使用方法。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所有课程资产均在门户站点课程档案馆页面提供下载。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课程结语，鼓励学生课后使用门户站点继续探索客家非遗。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home-cover.jp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>
              <a:alpha val="5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874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800" kern="0" dirty="0">
                <a:solidFill>
                  <a:srgbClr val="E3C4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高校通识课程 · 沉浸式数字课程门户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F7E6B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梅州客家非遗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600" kern="0" dirty="0">
                <a:solidFill>
                  <a:srgbClr val="F2E8D5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客从何处来 · 非遗如何活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B2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衣冠南渡的千年回响 · 世界客都的活态记忆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 程 导 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一门课，读懂世界客都的千年文脉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2E8D5">
              <a:alpha val="60000"/>
            </a:srgbClr>
          </a:solidFill>
          <a:ln w="12700">
            <a:solidFill>
              <a:srgbClr val="E0D5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从永嘉之乱的衣冠南渡，到当代的数字传承——本课程以八个章节为经，以迁徙路线、三十个节点城市、四十件非遗器物为纬，带你走进客家人的声音、戏台、节庆、居所与餐桌。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学习方法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章节时间轴 → 互动地图 → 数字长廊 → AI 讲解员自由问答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466B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0" y="20574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C48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17220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300" kern="0" dirty="0">
                <a:solidFill>
                  <a:srgbClr val="CFC8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课程章节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15400" y="178308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466B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15400" y="20574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C48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30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91540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300" kern="0" dirty="0">
                <a:solidFill>
                  <a:srgbClr val="CFC8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地图节点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9776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466B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42519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C48A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40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72200" y="5212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300" kern="0" dirty="0">
                <a:solidFill>
                  <a:srgbClr val="CFC8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非遗器物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15400" y="39776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0B0D12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15400" y="42519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E6B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4+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915400" y="5212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300" kern="0" dirty="0">
                <a:solidFill>
                  <a:srgbClr val="CFC8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国家级非遗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/ 15 页 · 课程导览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c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521208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784" y="832104"/>
            <a:ext cx="5468112" cy="5148072"/>
          </a:xfrm>
          <a:prstGeom prst="roundRect">
            <a:avLst>
              <a:gd name="adj" fmla="val 14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C9973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6364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63640" y="1508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衣冠南渡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6364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6A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客家迁徙与世界客都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63640" y="2880360"/>
            <a:ext cx="3931920" cy="457200"/>
          </a:xfrm>
          <a:prstGeom prst="roundRect">
            <a:avLst>
              <a:gd name="adj" fmla="val 10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2862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5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历史源流章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37844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东晋 — 清代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6118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36118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311年永嘉之乱后，中原汉人陆续南迁，史称衣冠南渡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263640" y="436168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43616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罗香林《客家研究导论》系统提出客家五次大迁徙说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263640" y="511149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51114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宁化石壁、长汀汀州府是客家先民的重要中转地与祖地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263640" y="586130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586130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宋元以后嘉应州（梅州）成为客家大本营，此后向全球播迁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6263640" y="6419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门户站点 chapter.html?id=c1 · 含 AI 语音朗读讲解稿与高清细节放大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/ 15 页 · 第一章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c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960120"/>
            <a:ext cx="521208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35624" y="832104"/>
            <a:ext cx="5468112" cy="5148072"/>
          </a:xfrm>
          <a:prstGeom prst="roundRect">
            <a:avLst>
              <a:gd name="adj" fmla="val 14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C9973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山歌俚音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6A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客家山歌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2880360"/>
            <a:ext cx="3931920" cy="457200"/>
          </a:xfrm>
          <a:prstGeom prst="roundRect">
            <a:avLst>
              <a:gd name="adj" fmla="val 10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2862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5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国家级非物质文化遗产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0060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宋代 — 当代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36118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118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梅州客家山歌列入国家级非物质文化遗产代表性项目名录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85800" y="436168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616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歌词以七字四句为主，客家方言演唱，高亢悠扬，多以哎呀起兴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85800" y="511149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1114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善用比兴、双关、比喻，题材涵盖劳动、爱情、劝世、叙事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85800" y="586130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86130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对唱斗歌是最精彩的演唱形式，五华竹板歌是独特的说唱艺术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685800" y="6419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门户站点 chapter.html?id=c2 · 含 AI 语音朗读讲解稿与高清细节放大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/ 15 页 · 第二章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c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521208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784" y="832104"/>
            <a:ext cx="5468112" cy="5148072"/>
          </a:xfrm>
          <a:prstGeom prst="roundRect">
            <a:avLst>
              <a:gd name="adj" fmla="val 14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C9973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6364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63640" y="1508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南国牡丹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6364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6A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广东汉剧与汉乐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63640" y="2880360"/>
            <a:ext cx="3931920" cy="457200"/>
          </a:xfrm>
          <a:prstGeom prst="roundRect">
            <a:avLst>
              <a:gd name="adj" fmla="val 10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2862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5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国家级非物质文化遗产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37844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清代 — 当代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6118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36118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2006年广东汉剧列入首批国家级非遗代表性项目名录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263640" y="436168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43616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汉剧旧称外江戏，1933年在大埔正式定名汉剧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263640" y="511149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51114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唱腔以西皮二黄为主，头弦领奏，行当齐全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263640" y="586130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586130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《齐王求将》《闹严府》《百里奚认妻》是常演不衰的经典剧目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6263640" y="6419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门户站点 chapter.html?id=c3 · 含 AI 语音朗读讲解稿与高清细节放大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/ 15 页 · 第三章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c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960120"/>
            <a:ext cx="521208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35624" y="832104"/>
            <a:ext cx="5468112" cy="5148072"/>
          </a:xfrm>
          <a:prstGeom prst="roundRect">
            <a:avLst>
              <a:gd name="adj" fmla="val 14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C9973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火龙狮舞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6A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节庆演艺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2880360"/>
            <a:ext cx="3931920" cy="457200"/>
          </a:xfrm>
          <a:prstGeom prst="roundRect">
            <a:avLst>
              <a:gd name="adj" fmla="val 10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2862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5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国家级非物质文化遗产（埔寨火龙）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0060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清代 — 当代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36118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118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2008年丰顺埔寨火龙列入国家级非遗代表性项目名录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85800" y="436168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616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火龙以竹篾扎骨、纸糊彩绘，龙身遍插烟花，元宵夜起舞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85800" y="511149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1114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梅州狮舞融武术与舞蹈于一体，醒狮、采青仪式独具特色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85800" y="586130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86130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兴宁杯花舞以白瓷杯击节而舞，竹马舞骑马形道具边歌边舞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685800" y="6419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门户站点 chapter.html?id=c4 · 含 AI 语音朗读讲解稿与高清细节放大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/ 15 页 · 第四章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c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521208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784" y="832104"/>
            <a:ext cx="5468112" cy="5148072"/>
          </a:xfrm>
          <a:prstGeom prst="roundRect">
            <a:avLst>
              <a:gd name="adj" fmla="val 14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C9973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6364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63640" y="1508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围屋百工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6364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6A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围龙屋与客家工艺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63640" y="2880360"/>
            <a:ext cx="3931920" cy="457200"/>
          </a:xfrm>
          <a:prstGeom prst="roundRect">
            <a:avLst>
              <a:gd name="adj" fmla="val 10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2862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5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传统建筑与工艺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37844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宋代 — 当代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6118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36118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围龙屋是梅州客家民居代表：堂屋居中，化胎围龙在后，前有半月池塘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263640" y="436168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43616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南华又庐、大埔泰安楼与花萼楼是梅州民居建筑的杰出代表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263640" y="511149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51114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五华石匠名闻遐迩，五华石雕工艺精湛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263640" y="586130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586130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大埔制瓷八百余年，高陂青花瓷胎薄声磬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6263640" y="6419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门户站点 chapter.html?id=c5 · 含 AI 语音朗读讲解稿与高清细节放大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 / 15 页 · 第五章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c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960120"/>
            <a:ext cx="521208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35624" y="832104"/>
            <a:ext cx="5468112" cy="5148072"/>
          </a:xfrm>
          <a:prstGeom prst="roundRect">
            <a:avLst>
              <a:gd name="adj" fmla="val 14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C9973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粄香酒醇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6A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客家饮食与粄文化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2880360"/>
            <a:ext cx="3931920" cy="457200"/>
          </a:xfrm>
          <a:prstGeom prst="roundRect">
            <a:avLst>
              <a:gd name="adj" fmla="val 10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2862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5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省市级非物质文化遗产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0060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中原传统 — 当代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36118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118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客家菜是粤菜三大分支之一，梅州是客家菜的重要代表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85800" y="436168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616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酿豆腐寄寓中原饺子情结，是客家菜的招牌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85800" y="511149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1114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梅州腌面配三及第汤，是梅州人的日常滋味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85800" y="586130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86130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粄是米制食品的总称：笋粄、味酵粄、簸箕粄、落汤粄各有风味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685800" y="6419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门户站点 chapter.html?id=c6 · 含 AI 语音朗读讲解稿与高清细节放大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/ 15 页 · 第六章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c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521208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784" y="832104"/>
            <a:ext cx="5468112" cy="5148072"/>
          </a:xfrm>
          <a:prstGeom prst="roundRect">
            <a:avLst>
              <a:gd name="adj" fmla="val 14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C9973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6364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63640" y="1508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礼俗客风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6364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6A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客家礼俗与上灯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63640" y="2880360"/>
            <a:ext cx="3931920" cy="457200"/>
          </a:xfrm>
          <a:prstGeom prst="roundRect">
            <a:avLst>
              <a:gd name="adj" fmla="val 10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2862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5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国家级非物质文化遗产（兴宁上灯习俗）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37844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明清 — 当代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6118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36118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2021年兴宁上灯习俗列入国家级非遗代表性项目名录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263640" y="436168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43616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上灯以灯谐丁，新添丁家庭在祠堂挂灯祭祖，祈愿人丁兴旺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263640" y="511149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51114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祠堂春秋二祭、清明挂纸，是客家人慎终追远的庄严仪式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263640" y="586130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586130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客家婚嫁保留说媒、传庚、送聘、迎亲等传统礼仪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6263640" y="6419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门户站点 chapter.html?id=c7 · 含 AI 语音朗读讲解稿与高清细节放大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/ 15 页 · 第七章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c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960120"/>
            <a:ext cx="521208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35624" y="832104"/>
            <a:ext cx="5468112" cy="5148072"/>
          </a:xfrm>
          <a:prstGeom prst="roundRect">
            <a:avLst>
              <a:gd name="adj" fmla="val 14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C9973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第八章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侨批过番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6A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过番与当代传承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2880360"/>
            <a:ext cx="3931920" cy="457200"/>
          </a:xfrm>
          <a:prstGeom prst="roundRect">
            <a:avLst>
              <a:gd name="adj" fmla="val 10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2862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5A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联合国教科文组织世界记忆名录（侨批档案）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0060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明清之际 — 当代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36118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118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明清之际梅州人过番下南洋，客属侨胞遍布世界80多个国家和地区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85800" y="436168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6168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侨批是海外侨胞寄回国内的银信合一的家书，见证华侨奋斗史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85800" y="511149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6F1E4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1114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2013年广东福建侨批档案入选联合国教科文组织世界记忆名录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85800" y="586130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CF1F7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86130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8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世界客属恳亲大会是全球客属乡亲寻根联谊的盛会，梅州多次主办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685800" y="6419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门户站点 chapter.html?id=c8 · 含 AI 语音朗读讲解稿与高清细节放大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 / 15 页 · 第八章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 动 地 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客家迁徙路线 · 非遗分布地图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8992" y="3931920"/>
            <a:ext cx="457200" cy="457200"/>
          </a:xfrm>
          <a:prstGeom prst="ellipse">
            <a:avLst/>
          </a:prstGeom>
          <a:solidFill>
            <a:srgbClr val="C9973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449884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洛阳 · 永嘉之乱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1937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迁徙起点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572768" y="4160520"/>
            <a:ext cx="1417320" cy="0"/>
          </a:xfrm>
          <a:prstGeom prst="line">
            <a:avLst/>
          </a:prstGeom>
          <a:noFill/>
          <a:ln w="25400">
            <a:solidFill>
              <a:srgbClr val="C9973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11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27832" y="3931920"/>
            <a:ext cx="457200" cy="457200"/>
          </a:xfrm>
          <a:prstGeom prst="ellipse">
            <a:avLst/>
          </a:prstGeom>
          <a:solidFill>
            <a:srgbClr val="C9973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449884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石壁 · 客家祖地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51937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中转祖地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21608" y="4160520"/>
            <a:ext cx="1417320" cy="0"/>
          </a:xfrm>
          <a:prstGeom prst="line">
            <a:avLst/>
          </a:prstGeom>
          <a:noFill/>
          <a:ln w="25400">
            <a:solidFill>
              <a:srgbClr val="C9973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06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76672" y="3931920"/>
            <a:ext cx="457200" cy="457200"/>
          </a:xfrm>
          <a:prstGeom prst="ellipse">
            <a:avLst/>
          </a:prstGeom>
          <a:solidFill>
            <a:srgbClr val="C9973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449884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长汀 · 汀州府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51937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客家首府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70448" y="4160520"/>
            <a:ext cx="1417320" cy="0"/>
          </a:xfrm>
          <a:prstGeom prst="line">
            <a:avLst/>
          </a:prstGeom>
          <a:noFill/>
          <a:ln w="25400">
            <a:solidFill>
              <a:srgbClr val="C9973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07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525512" y="3931920"/>
            <a:ext cx="457200" cy="457200"/>
          </a:xfrm>
          <a:prstGeom prst="ellipse">
            <a:avLst/>
          </a:prstGeom>
          <a:solidFill>
            <a:srgbClr val="D45A3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95160" y="449884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梅州 · 世界客都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51937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落脚大本营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19288" y="4160520"/>
            <a:ext cx="1417320" cy="0"/>
          </a:xfrm>
          <a:prstGeom prst="line">
            <a:avLst/>
          </a:prstGeom>
          <a:noFill/>
          <a:ln w="25400">
            <a:solidFill>
              <a:srgbClr val="C9973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09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674352" y="3931920"/>
            <a:ext cx="457200" cy="457200"/>
          </a:xfrm>
          <a:prstGeom prst="ellipse">
            <a:avLst/>
          </a:prstGeom>
          <a:solidFill>
            <a:srgbClr val="C9973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0" y="449884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南洋 · 世界客属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519379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海外播迁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2148840"/>
            <a:ext cx="4663440" cy="1417320"/>
          </a:xfrm>
          <a:prstGeom prst="roundRect">
            <a:avLst>
              <a:gd name="adj" fmla="val 6452"/>
            </a:avLst>
          </a:prstGeom>
          <a:solidFill>
            <a:srgbClr val="F2E8D5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三十个节点城市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43000" y="28803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迁徙路线节点 · 梅州八县市区 · 国内播迁地 · 海外迁播地。点击城市卡片，查看历史概况、代表非遗并跳转相关章节。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035040" y="21488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24466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3957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C4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金色虚线 = 南迁示意路线（光点流动）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09360" y="28346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CFC8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洛阳 → 荥阳 → 襄阳 → 九江 → 吉安 → 石壁 → 长汀 → 梅关 → 梅州 → 赣州/龙岩/惠州/河源/韶关 → 新加坡/吉隆坡/坤甸/曼谷/路易港/温哥华……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 / 15 页 · 互动地图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 字 非 遗 长 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四十件器物 · 一部客家生活史</a:t>
            </a:r>
            <a:endParaRPr lang="en-US" sz="3200" dirty="0"/>
          </a:p>
        </p:txBody>
      </p:sp>
      <p:pic>
        <p:nvPicPr>
          <p:cNvPr id="4" name="Image 0" descr="F:\网易龙虾\梅州客家非遗_课程门户网站_20260805\assets\img\ppt\relics\r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2377440" cy="3017520"/>
          </a:xfrm>
          <a:prstGeom prst="rect">
            <a:avLst/>
          </a:prstGeom>
        </p:spPr>
      </p:pic>
      <p:pic>
        <p:nvPicPr>
          <p:cNvPr id="5" name="Image 1" descr="F:\网易龙虾\梅州客家非遗_课程门户网站_20260805\assets\img\ppt\relics\r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377440" cy="3017520"/>
          </a:xfrm>
          <a:prstGeom prst="rect">
            <a:avLst/>
          </a:prstGeom>
        </p:spPr>
      </p:pic>
      <p:pic>
        <p:nvPicPr>
          <p:cNvPr id="6" name="Image 2" descr="F:\网易龙虾\梅州客家非遗_课程门户网站_20260805\assets\img\ppt\relics\r1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828800"/>
            <a:ext cx="2377440" cy="3017520"/>
          </a:xfrm>
          <a:prstGeom prst="rect">
            <a:avLst/>
          </a:prstGeom>
        </p:spPr>
      </p:pic>
      <p:pic>
        <p:nvPicPr>
          <p:cNvPr id="7" name="Image 3" descr="F:\网易龙虾\梅州客家非遗_课程门户网站_20260805\assets\img\ppt\relics\r2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28800"/>
            <a:ext cx="2377440" cy="301752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85800" y="49560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4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汉剧凤冠</a:t>
            </a:r>
            <a:endParaRPr lang="en-US" sz="1250" dirty="0"/>
          </a:p>
        </p:txBody>
      </p:sp>
      <p:sp>
        <p:nvSpPr>
          <p:cNvPr id="9" name="Text 3"/>
          <p:cNvSpPr/>
          <p:nvPr/>
        </p:nvSpPr>
        <p:spPr>
          <a:xfrm>
            <a:off x="3200400" y="49560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4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侨批文书</a:t>
            </a:r>
            <a:endParaRPr lang="en-US" sz="1250" dirty="0"/>
          </a:p>
        </p:txBody>
      </p:sp>
      <p:sp>
        <p:nvSpPr>
          <p:cNvPr id="10" name="Text 4"/>
          <p:cNvSpPr/>
          <p:nvPr/>
        </p:nvSpPr>
        <p:spPr>
          <a:xfrm>
            <a:off x="5715000" y="49560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4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火龙龙头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8229600" y="49560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46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围龙屋模型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85800" y="5440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瀑布流展陈 · 点击卡片 360° 翻转：正面器物图，背面断代 / 材质工艺 / 流传区域 / 传承谱系 / 故事讲解。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/ 15 页 · 数字非遗长廊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讲 解 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右下角常驻 · 随问随答</a:t>
            </a:r>
            <a:endParaRPr lang="en-US" sz="3200" dirty="0"/>
          </a:p>
        </p:txBody>
      </p:sp>
      <p:pic>
        <p:nvPicPr>
          <p:cNvPr id="4" name="Image 0" descr="F:\网易龙虾\梅州客家非遗_课程门户网站_20260805\assets\img\ppt\gu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2918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806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阿蛮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434840" y="1920240"/>
            <a:ext cx="7040880" cy="960120"/>
          </a:xfrm>
          <a:prstGeom prst="roundRect">
            <a:avLst>
              <a:gd name="adj" fmla="val 9524"/>
            </a:avLst>
          </a:prstGeom>
          <a:solidFill>
            <a:srgbClr val="F6F1E4">
              <a:alpha val="7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09160" y="2029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自由问答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239572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山歌、汉剧、火龙、围龙屋、酿豆腐、侨批……课程知识随问随答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3108960"/>
            <a:ext cx="7040880" cy="960120"/>
          </a:xfrm>
          <a:prstGeom prst="roundRect">
            <a:avLst>
              <a:gd name="adj" fmla="val 9524"/>
            </a:avLst>
          </a:prstGeom>
          <a:solidFill>
            <a:srgbClr val="ECF1F7">
              <a:alpha val="7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32186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流式打字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09160" y="358444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回答逐字呈现，还原对话节奏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4297680"/>
            <a:ext cx="7040880" cy="960120"/>
          </a:xfrm>
          <a:prstGeom prst="roundRect">
            <a:avLst>
              <a:gd name="adj" fmla="val 9524"/>
            </a:avLst>
          </a:prstGeom>
          <a:solidFill>
            <a:srgbClr val="F6F1E4">
              <a:alpha val="7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4407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语音播报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09160" y="477316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支持文生语音朗读，可开关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34840" y="5486400"/>
            <a:ext cx="7040880" cy="960120"/>
          </a:xfrm>
          <a:prstGeom prst="roundRect">
            <a:avLst>
              <a:gd name="adj" fmla="val 9524"/>
            </a:avLst>
          </a:prstGeom>
          <a:solidFill>
            <a:srgbClr val="ECF1F7">
              <a:alpha val="7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5596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知识导览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9160" y="596188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3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答案关联章节，一键跳转深度学习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 / 15 页 · AI 讲解员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 程 档 案 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讲义 · 课件 · 课程资产一站下载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2E8D5">
              <a:alpha val="65000"/>
            </a:srgbClr>
          </a:solidFill>
          <a:ln w="12700">
            <a:solidFill>
              <a:srgbClr val="E0D5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《梅州客家非遗精讲》讲义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Word 文档 · 八章完整讲解 + 课堂讨论 + 附录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downloads/meizhou-hakka-heritage-notes.docx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2E8D5">
              <a:alpha val="65000"/>
            </a:srgbClr>
          </a:solidFill>
          <a:ln w="12700">
            <a:solidFill>
              <a:srgbClr val="E0D5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《梅州客家非遗》教学 PPT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本套演示文稿 · 与站点同一视觉体系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3832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downloads/meizhou-hakka-heritage-slides.pptx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2E8D5">
              <a:alpha val="65000"/>
            </a:srgbClr>
          </a:solidFill>
          <a:ln w="12700">
            <a:solidFill>
              <a:srgbClr val="E0D5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种子数据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493776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章节 / 节点 / 器物 / 问答库 JSON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623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data/*.json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2E8D5">
              <a:alpha val="65000"/>
            </a:srgbClr>
          </a:solidFill>
          <a:ln w="12700">
            <a:solidFill>
              <a:srgbClr val="E0D5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466B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架构与视觉规范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493776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6B65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系统架构说明 · 三色视觉规范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56235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docs/*.html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64190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/ 15 页 · 课程档案馆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网易龙虾\梅州客家非遗_课程门户网站_20260805\assets\img\ppt\c7.jp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>
              <a:alpha val="5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F7E6B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山歌不唱心不开 · 非遗不传根不在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F2E8D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愿这门课成为你与客家文化的一次相遇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2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梅州客家非遗课程组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梅州客家非遗 · 高校通识课程</dc:title>
  <dc:subject>客家山歌 / 广东汉剧与汉乐 / 埔寨火龙 / 围龙屋 / 侨批</dc:subject>
  <dc:creator>梅州客家非遗课程组</dc:creator>
  <cp:lastModifiedBy>梅州客家非遗课程组</cp:lastModifiedBy>
  <cp:revision>1</cp:revision>
  <dcterms:created xsi:type="dcterms:W3CDTF">2026-08-05T23:34:42Z</dcterms:created>
  <dcterms:modified xsi:type="dcterms:W3CDTF">2026-08-05T23:34:42Z</dcterms:modified>
</cp:coreProperties>
</file>